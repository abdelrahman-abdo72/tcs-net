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297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8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TCS-Net | CBIO313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182880"/>
            <a:ext cx="2468880" cy="2468880"/>
          </a:xfrm>
          <a:prstGeom prst="ellipse">
            <a:avLst/>
          </a:prstGeom>
          <a:solidFill>
            <a:srgbClr val="149C95">
              <a:alpha val="82000"/>
            </a:srgbClr>
          </a:solidFill>
          <a:ln w="12700">
            <a:solidFill>
              <a:srgbClr val="149C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4069080"/>
            <a:ext cx="1920240" cy="1920240"/>
          </a:xfrm>
          <a:prstGeom prst="ellipse">
            <a:avLst/>
          </a:prstGeom>
          <a:solidFill>
            <a:srgbClr val="E98B2A">
              <a:alpha val="72000"/>
            </a:srgbClr>
          </a:solidFill>
          <a:ln w="12700">
            <a:solidFill>
              <a:srgbClr val="E98B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2880360"/>
            <a:ext cx="2468880" cy="164592"/>
          </a:xfrm>
          <a:prstGeom prst="roundRect">
            <a:avLst>
              <a:gd name="adj" fmla="val 22222"/>
            </a:avLst>
          </a:prstGeom>
          <a:solidFill>
            <a:srgbClr val="FFFFFF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3246120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149C95">
              <a:alpha val="65000"/>
            </a:srgbClr>
          </a:solidFill>
          <a:ln w="12700">
            <a:solidFill>
              <a:srgbClr val="149C9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51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TCS-Net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04672" y="1847088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D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Patient-Specific Temporal Cross-Antibiotic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DD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Susceptibility Modeling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 uncertainty-aware Smart-AST safety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3291840" cy="310896"/>
          </a:xfrm>
          <a:prstGeom prst="roundRect">
            <a:avLst>
              <a:gd name="adj" fmla="val 23529"/>
            </a:avLst>
          </a:prstGeom>
          <a:solidFill>
            <a:srgbClr val="163B55"/>
          </a:solidFill>
          <a:ln w="12700">
            <a:solidFill>
              <a:srgbClr val="163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88620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D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CBIO313 · Data Mining &amp; Machine Learning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</a:t>
            </a:r>
            <a:r>
              <a:rPr lang="en-GB" sz="1150" dirty="0">
                <a:solidFill>
                  <a:srgbClr val="DD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Abdalrahman Abdo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ID: 231001347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Dr. Muhammad Elsayeh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5989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and Project Question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patient’s previous AST profile help predict resistance in a later recurrent E. coli urine culture?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563624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929384"/>
            <a:ext cx="3008376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Definitive AST is not immediately available when a new culture is collected.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Recurrent infections often have prior microbiology history.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previous result may still be informative — but its value can change with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E8F1FB"/>
          </a:solidFill>
          <a:ln w="12700">
            <a:solidFill>
              <a:srgbClr val="E9EEF4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563624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baseline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1929384"/>
            <a:ext cx="3008376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previous result of the same antibiotic and the time since the last culture.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Cipro = Resistant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= 15–90 days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DDF4F1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1563624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TCS-Net idea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8472" y="1929384"/>
            <a:ext cx="3008376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full previous susceptibility profile and explicitly model how cross-antibiotic patterns interact with time.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predict P(Resistance) for the later isolate.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69080" y="3200400"/>
            <a:ext cx="301752" cy="0"/>
          </a:xfrm>
          <a:prstGeom prst="line">
            <a:avLst/>
          </a:prstGeom>
          <a:noFill/>
          <a:ln w="3048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18120" y="3200400"/>
            <a:ext cx="301752" cy="0"/>
          </a:xfrm>
          <a:prstGeom prst="line">
            <a:avLst/>
          </a:prstGeom>
          <a:noFill/>
          <a:ln w="3048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" y="61722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and Cohort Construction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longitudinal microbiology datasets with the same locked cohort definition.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8F1FB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47218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ARMD — development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837944"/>
            <a:ext cx="4882896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microbiology cultures → positive urine E. coli → direct S/R AST → recurrent patients → consecutive transitions &gt;14 days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60120" y="361188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721608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20,368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51560" y="41330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transitions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0" y="361188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3721608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9,307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743200" y="41330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361188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3721608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2008–24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434840" y="41330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span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13258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DDF4F1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147218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UTSW ARMD — external validation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28232" y="1837944"/>
            <a:ext cx="4882896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main preprocessing rules. Stanford-trained models transferred directly without UTSW-specific retraining.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361188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3721608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11,801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629400" y="41330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transitions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0" y="361188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66760" y="3721608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5,813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8321040" y="41330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21240" y="361188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8400" y="3721608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2006–25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10012680" y="41330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span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507492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30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urine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2084832" y="5330952"/>
            <a:ext cx="356616" cy="0"/>
          </a:xfrm>
          <a:prstGeom prst="line">
            <a:avLst/>
          </a:prstGeom>
          <a:noFill/>
          <a:ln w="2032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514600" y="507492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5230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coli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3822192" y="5330952"/>
            <a:ext cx="0" cy="0"/>
          </a:xfrm>
          <a:prstGeom prst="line">
            <a:avLst/>
          </a:prstGeom>
          <a:noFill/>
          <a:ln w="2032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886200" y="507492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5230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S/R AST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5193792" y="5330952"/>
            <a:ext cx="356616" cy="0"/>
          </a:xfrm>
          <a:prstGeom prst="line">
            <a:avLst/>
          </a:prstGeom>
          <a:noFill/>
          <a:ln w="2032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623560" y="507492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5230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≥2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6931152" y="5330952"/>
            <a:ext cx="448056" cy="0"/>
          </a:xfrm>
          <a:prstGeom prst="line">
            <a:avLst/>
          </a:prstGeom>
          <a:noFill/>
          <a:ln w="2032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452360" y="507492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5230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conflicts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8759952" y="5330952"/>
            <a:ext cx="630936" cy="0"/>
          </a:xfrm>
          <a:prstGeom prst="line">
            <a:avLst/>
          </a:prstGeom>
          <a:noFill/>
          <a:ln w="2032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464040" y="507492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09760" y="5230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&gt;14d</a:t>
            </a:r>
            <a:endParaRPr lang="en-US" sz="890" dirty="0"/>
          </a:p>
        </p:txBody>
      </p:sp>
      <p:sp>
        <p:nvSpPr>
          <p:cNvPr id="45" name="Text 43"/>
          <p:cNvSpPr/>
          <p:nvPr/>
        </p:nvSpPr>
        <p:spPr>
          <a:xfrm>
            <a:off x="731520" y="587959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Stanford ARMD Dryad DOI 10.5061/dryad.jq2bvq8kp · UTSW ARMD Dryad DOI 10.5061/dryad.0rxwdbsd5</a:t>
            </a:r>
            <a:endParaRPr lang="en-US" sz="8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Time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same-drug susceptibility carries strong information, but that information changes with elapsed time.</a:t>
            </a:r>
            <a:endParaRPr lang="en-US" sz="1150" dirty="0"/>
          </a:p>
        </p:txBody>
      </p:sp>
      <p:pic>
        <p:nvPicPr>
          <p:cNvPr id="4" name="Image 0" descr="/mnt/data/Figure_4_Temporal_Cipro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10557"/>
            <a:ext cx="7726680" cy="46141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481328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59105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92.1% → 46.6%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22960" y="20025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Cipro R after previous 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2219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15–90 days → &gt;730 days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2761488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287121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9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 → 13.1%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22960" y="32826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Cipro R after previous 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" y="350215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15–90 days → &gt;730 days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731520" y="41605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430682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6112" y="4672584"/>
            <a:ext cx="2322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AST history is highly informative, but the “memory” of the previous result weakens or shifts with time.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61722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TCS-Net Model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are transformed into temporal cross-antibiotic interaction features, then converted into a calibrated resistance probability.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240280" cy="3383280"/>
          </a:xfrm>
          <a:prstGeom prst="roundRect">
            <a:avLst>
              <a:gd name="adj" fmla="val 3265"/>
            </a:avLst>
          </a:prstGeom>
          <a:solidFill>
            <a:srgbClr val="E8F1FB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6362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AST profile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1929384"/>
            <a:ext cx="191109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drug: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Ciprofloxacin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Cross-antibiotics: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Ampicillin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TMP-SMX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Gentamicin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Cefazolin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Ceftriaxone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41732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FF0DD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927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19272" y="1929384"/>
            <a:ext cx="168249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windows: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15–90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91–180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181–365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366–730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&gt;730 days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52928" y="3063240"/>
            <a:ext cx="228600" cy="0"/>
          </a:xfrm>
          <a:prstGeom prst="line">
            <a:avLst/>
          </a:prstGeom>
          <a:noFill/>
          <a:ln w="2794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0" y="141732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DDF4F1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50992" y="1563624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features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50992" y="1929384"/>
            <a:ext cx="236829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Cipro 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Ceftriaxone 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15–90 days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learns a separate weight for each observed combination.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93792" y="3063240"/>
            <a:ext cx="219456" cy="0"/>
          </a:xfrm>
          <a:prstGeom prst="line">
            <a:avLst/>
          </a:prstGeom>
          <a:noFill/>
          <a:ln w="2794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49640" y="141732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14232" y="1563624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TCS-Net classifier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14232" y="1929384"/>
            <a:ext cx="268833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Regularized Logistic Regression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one-hot encoded categorical interactions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211312" y="2103120"/>
            <a:ext cx="265176" cy="0"/>
          </a:xfrm>
          <a:prstGeom prst="line">
            <a:avLst/>
          </a:prstGeom>
          <a:noFill/>
          <a:ln w="2794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324612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14232" y="3392424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14232" y="3758184"/>
            <a:ext cx="268833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P(Resistance)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Platt calibration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Smart-AST decision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0" y="2852928"/>
            <a:ext cx="0" cy="329184"/>
          </a:xfrm>
          <a:prstGeom prst="line">
            <a:avLst/>
          </a:prstGeom>
          <a:noFill/>
          <a:ln w="2540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" y="5257800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530352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= same drug + time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5257800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FFF0DD"/>
          </a:solidFill>
          <a:ln w="12700">
            <a:solidFill>
              <a:srgbClr val="FFF0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530352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= B2 + additive cross-AST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5257800"/>
            <a:ext cx="3840480" cy="310896"/>
          </a:xfrm>
          <a:prstGeom prst="roundRect">
            <a:avLst>
              <a:gd name="adj" fmla="val 23529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5303520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/ TCS-Net = D2 + explicit interactions</a:t>
            </a:r>
            <a:endParaRPr lang="en-US" sz="9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Algorithms and Validation Strategy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algorithms were implemented first; the final TCS-Net hypothesis was then tested using increasingly strict validation.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8F1FB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5179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883664"/>
            <a:ext cx="29626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probabilistic baseline and the final regularized TCS-Net classifier.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0DD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5179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1883664"/>
            <a:ext cx="29626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tree baseline used for course model comparison.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3716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DDF4F1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15179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8472" y="1883664"/>
            <a:ext cx="29626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tree baseline used to test whether non-linear additive structure was sufficient.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63040" y="3749040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8313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split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patient overlap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965960" y="3941064"/>
            <a:ext cx="1600200" cy="0"/>
          </a:xfrm>
          <a:prstGeom prst="line">
            <a:avLst/>
          </a:prstGeom>
          <a:noFill/>
          <a:ln w="2794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11880" y="3749040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38313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71800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test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7180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2022–2023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14800" y="3941064"/>
            <a:ext cx="1600200" cy="0"/>
          </a:xfrm>
          <a:prstGeom prst="line">
            <a:avLst/>
          </a:prstGeom>
          <a:noFill/>
          <a:ln w="2794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60720" y="3749040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8313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New-patient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patients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263640" y="3941064"/>
            <a:ext cx="1600200" cy="0"/>
          </a:xfrm>
          <a:prstGeom prst="line">
            <a:avLst/>
          </a:prstGeom>
          <a:noFill/>
          <a:ln w="2794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09560" y="3749040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38313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69480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Ampicillin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6948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target replication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412480" y="3941064"/>
            <a:ext cx="1600200" cy="0"/>
          </a:xfrm>
          <a:prstGeom prst="line">
            <a:avLst/>
          </a:prstGeom>
          <a:noFill/>
          <a:ln w="27940">
            <a:solidFill>
              <a:srgbClr val="A7B0B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58400" y="3749040"/>
            <a:ext cx="384048" cy="384048"/>
          </a:xfrm>
          <a:prstGeom prst="ellipse">
            <a:avLst/>
          </a:prstGeom>
          <a:solidFill>
            <a:srgbClr val="149C95"/>
          </a:solidFill>
          <a:ln w="12700">
            <a:solidFill>
              <a:srgbClr val="149C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38313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18320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UTSW external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41832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retraining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640080" y="61722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Main Predictive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six validation settings, TCS-Net had the best ROC-AUC and PR-AUC and the lowest Brier Score.</a:t>
            </a:r>
            <a:endParaRPr lang="en-US" sz="1150" dirty="0"/>
          </a:p>
        </p:txBody>
      </p:sp>
      <p:pic>
        <p:nvPicPr>
          <p:cNvPr id="4" name="Image 0" descr="/mnt/data/Figure_1A_ROC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304" y="1325880"/>
            <a:ext cx="9386633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534924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5458968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0.8737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96012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Cipro Stanford ROC-AUC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60120" y="608990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0.8235 B2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429000" y="534924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5458968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0.8230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52044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Ampicillin Stanford ROC-AUC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520440" y="608990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0.7720 B2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5989320" y="534924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5458968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0.8566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08076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Cipro UTSW ROC-AUC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80760" y="608990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retraining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8549640" y="534924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86800" y="5458968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0.7974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86410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Ampicillin UTSW ROC-AUC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41080" y="608990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retraining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Independent UTSW External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Stanford-trained models were transferred directly to a different healthcare system.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251960" y="1335024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25112" y="138074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UTSW-specific retraining or tuning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5303520" cy="3429000"/>
          </a:xfrm>
          <a:prstGeom prst="roundRect">
            <a:avLst>
              <a:gd name="adj" fmla="val 2133"/>
            </a:avLst>
          </a:prstGeom>
          <a:solidFill>
            <a:srgbClr val="E8F1FB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837944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Ciprofloxacin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03704"/>
            <a:ext cx="4974336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ROC-AUC: 0.8263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ROC-AUC: 0.8292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TCS-Net ROC-AUC: 0.8566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ΔROC vs B2: +0.0303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0.0230 to 0.0377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PR-AUC: 0.8001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Brier: 0.1305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03520" cy="3429000"/>
          </a:xfrm>
          <a:prstGeom prst="roundRect">
            <a:avLst>
              <a:gd name="adj" fmla="val 2133"/>
            </a:avLst>
          </a:prstGeom>
          <a:solidFill>
            <a:srgbClr val="DDF4F1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36792" y="1837944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Ampicillin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36792" y="2203704"/>
            <a:ext cx="4974336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ROC-AUC: 0.7613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ROC-AUC: 0.7623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TCS-Net ROC-AUC: 0.7974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ΔROC vs B2: +0.0361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0.0298 to 0.0430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PR-AUC: 0.8152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Brier: 0.1825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44068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555040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35.0%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05840" y="5961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UTSW Cipro resistance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618134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distribution shift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657600" y="544068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94760" y="555040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53.5%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749040" y="5961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UTSW Ampicillin resistance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618134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distribution shift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537960" y="5413248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5559552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02552" y="5925312"/>
            <a:ext cx="42428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interaction benefit generalized across both targets in an independent institution.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Statistical Confidence of the Improvement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Patient-level paired bootstrap: every ROC-AUC improvement interval remained above zero.</a:t>
            </a:r>
            <a:endParaRPr lang="en-US" sz="1150" dirty="0"/>
          </a:p>
        </p:txBody>
      </p:sp>
      <p:pic>
        <p:nvPicPr>
          <p:cNvPr id="4" name="Image 0" descr="/mnt/data/Figure_2A_Delta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74" y="1261872"/>
            <a:ext cx="7714412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23960" y="15087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8F1FB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88552" y="1655064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validation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88552" y="2020824"/>
            <a:ext cx="218541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gain: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Ampicillin new-patient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ΔROC = +0.0646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8823960" y="33832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DF4F1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88552" y="3529584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validation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88552" y="3895344"/>
            <a:ext cx="218541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Cipro: +0.0303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Ampicillin: +0.0361</a:t>
            </a:r>
            <a:endParaRPr lang="en-US" sz="1130" dirty="0"/>
          </a:p>
          <a:p>
            <a:pPr marL="0" indent="0">
              <a:buNone/>
            </a:pP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95% CIs &gt; 0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8686800" y="5376672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FF0DD"/>
          </a:solidFill>
          <a:ln w="12700">
            <a:solidFill>
              <a:srgbClr val="FFF0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59952" y="542239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 also held for PR-AUC and Brier improvement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What Did the Model Learn?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was used to inspect predictive behavior, not to make causal claims.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81328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features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11226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Cipro model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481328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337560" y="1892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terms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37560" y="211226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temporal cross-AST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4800600" cy="2514600"/>
          </a:xfrm>
          <a:prstGeom prst="roundRect">
            <a:avLst>
              <a:gd name="adj" fmla="val 2909"/>
            </a:avLst>
          </a:prstGeom>
          <a:solidFill>
            <a:srgbClr val="E8F1FB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28895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main effects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3255264"/>
            <a:ext cx="4471416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Cipro S: coefficient ≈ −1.09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Cipro R: coefficient ≈ +1.04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15–90 days: ≈ +0.35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&gt;730 days: ≈ −0.33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previous target-drug state remained the strongest signal.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5394960" cy="3886200"/>
          </a:xfrm>
          <a:prstGeom prst="roundRect">
            <a:avLst>
              <a:gd name="adj" fmla="val 1882"/>
            </a:avLst>
          </a:prstGeom>
          <a:solidFill>
            <a:srgbClr val="DDF4F1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62472" y="1517904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interaction signal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62472" y="1883664"/>
            <a:ext cx="506577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High-support interactions included combinations involving Ceftriaxone, Gentamicin, Ampicillin and Cefazolin.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interaction label: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Cipro R × Ceftriaxone S × 15–90 days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ranked previous Cipro status first, followed by time and temporal cross-antibiotic interactions.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Smart-AST: Abstain When Uncertain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not forced to classify every case. A broad uncertainty region sends the sample back to laboratory AST.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DFF3E8"/>
          </a:solidFill>
          <a:ln w="12700">
            <a:solidFill>
              <a:srgbClr val="B9D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44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P(R) ≤ 0.10  →  Likely Susceptible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234440"/>
            <a:ext cx="3520440" cy="640080"/>
          </a:xfrm>
          <a:prstGeom prst="roundRect">
            <a:avLst>
              <a:gd name="adj" fmla="val 7143"/>
            </a:avLst>
          </a:prstGeom>
          <a:solidFill>
            <a:srgbClr val="FFF4D8"/>
          </a:solidFill>
          <a:ln w="12700">
            <a:solidFill>
              <a:srgbClr val="E9D5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8B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 &lt; P(R) &lt; 0.80  →  Lab AST Required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183880" y="123444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F7E2E2"/>
          </a:solidFill>
          <a:ln w="12700">
            <a:solidFill>
              <a:srgbClr val="E6B3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444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8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P(R) ≥ 0.80  →  Likely Resistant</a:t>
            </a:r>
            <a:endParaRPr lang="en-US" sz="1150" dirty="0"/>
          </a:p>
        </p:txBody>
      </p:sp>
      <p:pic>
        <p:nvPicPr>
          <p:cNvPr id="10" name="Image 0" descr="/mnt/data/Figure_3A_SmartAST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69" y="2148840"/>
            <a:ext cx="5178903" cy="3429000"/>
          </a:xfrm>
          <a:prstGeom prst="rect">
            <a:avLst/>
          </a:prstGeom>
        </p:spPr>
      </p:pic>
      <p:pic>
        <p:nvPicPr>
          <p:cNvPr id="11" name="Image 1" descr="/mnt/data/fig3b_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822" y="2148840"/>
            <a:ext cx="5184275" cy="3429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68680" y="5715000"/>
            <a:ext cx="4114800" cy="310896"/>
          </a:xfrm>
          <a:prstGeom prst="roundRect">
            <a:avLst>
              <a:gd name="adj" fmla="val 23529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1832" y="576072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Stanford: 61.1% coverage · 92.0% selective accuracy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66360" y="5715000"/>
            <a:ext cx="4023360" cy="310896"/>
          </a:xfrm>
          <a:prstGeom prst="roundRect">
            <a:avLst>
              <a:gd name="adj" fmla="val 23529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239512" y="576072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UTSW: 52.5% coverage · 90.0% selective accuracy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9326880" y="565099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FF0DD"/>
          </a:solidFill>
          <a:ln w="12700">
            <a:solidFill>
              <a:srgbClr val="FFF0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400032" y="569671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thresholds partially transport; recalibration may be needed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Live Streamlit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 previous AST profile and time interval; the app returns the raw probability, calibrated probability and Smart-AST decision.</a:t>
            </a:r>
            <a:endParaRPr lang="en-US" sz="1150" dirty="0"/>
          </a:p>
        </p:txBody>
      </p:sp>
      <p:pic>
        <p:nvPicPr>
          <p:cNvPr id="5" name="Image 1" descr="/mnt/data/5f0908e7-6be7-45a7-9518-b1bf09ae0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001" y="1325880"/>
            <a:ext cx="4918237" cy="3383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34747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96112" y="3621024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96112" y="3986784"/>
            <a:ext cx="497433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AST + time → interaction features → TCS-Net → Platt calibration → Smart-AST</a:t>
            </a:r>
            <a:endParaRPr lang="en-US" sz="1120" dirty="0"/>
          </a:p>
        </p:txBody>
      </p:sp>
      <p:sp>
        <p:nvSpPr>
          <p:cNvPr id="9" name="Shape 5"/>
          <p:cNvSpPr/>
          <p:nvPr/>
        </p:nvSpPr>
        <p:spPr>
          <a:xfrm>
            <a:off x="868680" y="507492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41832" y="5120640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 → Likely Susceptible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069080" y="5074920"/>
            <a:ext cx="3566160" cy="310896"/>
          </a:xfrm>
          <a:prstGeom prst="roundRect">
            <a:avLst>
              <a:gd name="adj" fmla="val 23529"/>
            </a:avLst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42232" y="512064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45.0% → Laboratory AST Required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909560" y="507492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F7E2E2"/>
          </a:solidFill>
          <a:ln w="12700">
            <a:solidFill>
              <a:srgbClr val="F7E2E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82712" y="51206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90.3% → Likely Resistant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40080" y="61722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25E7F5-598F-60E3-53FA-4D0D13AE2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225296"/>
            <a:ext cx="4974336" cy="21050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Conclusions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DDF4F1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0392" y="1426464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conclusions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0392" y="1792224"/>
            <a:ext cx="4928616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Previous AST history contains strong patient-specific temporal information.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Explicit temporal cross-antibiotic interactions improved prediction beyond same-drug and additive baselines.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benefit replicated for Ampicillin and generalized to UTSW without site-specific retraining.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Discrimination transported better than exact probability calibration.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2801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0DD"/>
          </a:solidFill>
          <a:ln w="12700">
            <a:solidFill>
              <a:srgbClr val="E9EE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28232" y="1426464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8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limitations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28232" y="1792224"/>
            <a:ext cx="4928616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species ≠ same strain or lineage.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Observational data cannot establish causal collateral-susceptibility mechanisms.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AST missingness and testing practices may differ across years and sites.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Smart-AST thresholds are research operating points, not clinical treatment cutoffs.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00200" y="5897880"/>
            <a:ext cx="8961120" cy="310896"/>
          </a:xfrm>
          <a:prstGeom prst="roundRect">
            <a:avLst>
              <a:gd name="adj" fmla="val 2352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3352" y="5943600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message: TCS-Net is a research prediction framework — not a replacement for laboratory AST.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581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731520"/>
            <a:ext cx="3474720" cy="3474720"/>
          </a:xfrm>
          <a:prstGeom prst="ellipse">
            <a:avLst/>
          </a:prstGeom>
          <a:solidFill>
            <a:srgbClr val="149C95">
              <a:alpha val="82000"/>
            </a:srgbClr>
          </a:solidFill>
          <a:ln w="12700">
            <a:solidFill>
              <a:srgbClr val="149C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65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2743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D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" y="5349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TCS-Net · CBIO313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10DB902C6E6A4DB9A3A7C09BB1D106" ma:contentTypeVersion="10" ma:contentTypeDescription="Create a new document." ma:contentTypeScope="" ma:versionID="7011fcaed1ec4c426e6435203c094859">
  <xsd:schema xmlns:xsd="http://www.w3.org/2001/XMLSchema" xmlns:xs="http://www.w3.org/2001/XMLSchema" xmlns:p="http://schemas.microsoft.com/office/2006/metadata/properties" xmlns:ns3="8ad7f4ac-0189-431f-84f8-52b31cd47d1b" targetNamespace="http://schemas.microsoft.com/office/2006/metadata/properties" ma:root="true" ma:fieldsID="c388d696654aa993f04266b8bcc9bb08" ns3:_="">
    <xsd:import namespace="8ad7f4ac-0189-431f-84f8-52b31cd47d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7f4ac-0189-431f-84f8-52b31cd47d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d7f4ac-0189-431f-84f8-52b31cd47d1b" xsi:nil="true"/>
  </documentManagement>
</p:properties>
</file>

<file path=customXml/itemProps1.xml><?xml version="1.0" encoding="utf-8"?>
<ds:datastoreItem xmlns:ds="http://schemas.openxmlformats.org/officeDocument/2006/customXml" ds:itemID="{3AA71970-9307-4683-824D-E5D508C0F3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d7f4ac-0189-431f-84f8-52b31cd47d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70345A-E2D5-4981-9AC4-2830D65096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2F020C-A39C-404F-98A7-B006AB5050AB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ad7f4ac-0189-431f-84f8-52b31cd47d1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1204</Words>
  <Application>Microsoft Office PowerPoint</Application>
  <PresentationFormat>Widescreen</PresentationFormat>
  <Paragraphs>264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CBIO313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TCS-Net: Patient-Specific Temporal Cross-Antibiotic Susceptibility Modeling</dc:title>
  <dc:subject>CBIO313 TCS-Net Project Presentation</dc:subject>
  <dc:creator>Student</dc:creator>
  <cp:lastModifiedBy>Abdalrahman mohamed abdo</cp:lastModifiedBy>
  <cp:revision>2</cp:revision>
  <dcterms:created xsi:type="dcterms:W3CDTF">2026-08-17T18:47:01Z</dcterms:created>
  <dcterms:modified xsi:type="dcterms:W3CDTF">2026-08-17T20:14:12Z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0x0101005810DB902C6E6A4DB9A3A7C09BB1D106</vt:lpwstr>
  </property>
</Properties>
</file>